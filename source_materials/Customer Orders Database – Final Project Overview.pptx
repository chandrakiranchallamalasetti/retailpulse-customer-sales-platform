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857" autoAdjust="0"/>
  </p:normalViewPr>
  <p:slideViewPr>
    <p:cSldViewPr snapToGrid="0">
      <p:cViewPr varScale="1">
        <p:scale>
          <a:sx n="59" d="100"/>
          <a:sy n="59" d="100"/>
        </p:scale>
        <p:origin x="96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8EE04-B1DC-43A1-AABF-6DBA91B04082}"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C09B83-CD37-47EE-8157-711485B36C82}" type="slidenum">
              <a:rPr lang="en-US" smtClean="0"/>
              <a:t>‹#›</a:t>
            </a:fld>
            <a:endParaRPr lang="en-US"/>
          </a:p>
        </p:txBody>
      </p:sp>
    </p:spTree>
    <p:extLst>
      <p:ext uri="{BB962C8B-B14F-4D97-AF65-F5344CB8AC3E}">
        <p14:creationId xmlns:p14="http://schemas.microsoft.com/office/powerpoint/2010/main" val="4098564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welcome to our group presentation for the Customer Orders Database project. Our team includes Sameer Basha Mohammad </a:t>
            </a:r>
            <a:r>
              <a:rPr lang="en-US" dirty="0" err="1"/>
              <a:t>Hothur</a:t>
            </a:r>
            <a:r>
              <a:rPr lang="en-US" dirty="0"/>
              <a:t>, Brendan Gillow, and Chandra Kiran </a:t>
            </a:r>
            <a:r>
              <a:rPr lang="en-US" dirty="0" err="1"/>
              <a:t>Challamalasetti</a:t>
            </a:r>
            <a:r>
              <a:rPr lang="en-US" dirty="0"/>
              <a:t>. This project focuses on designing a normalized database in 3NF for tracking customer orders, their salespersons, and order details. We used SQL Server for database development, </a:t>
            </a:r>
            <a:r>
              <a:rPr lang="en-US" dirty="0" err="1"/>
              <a:t>Jupyter</a:t>
            </a:r>
            <a:r>
              <a:rPr lang="en-US" dirty="0"/>
              <a:t> notebooks for Python integration, and various diagrams to visualize insights from the data.</a:t>
            </a:r>
          </a:p>
        </p:txBody>
      </p:sp>
      <p:sp>
        <p:nvSpPr>
          <p:cNvPr id="4" name="Slide Number Placeholder 3"/>
          <p:cNvSpPr>
            <a:spLocks noGrp="1"/>
          </p:cNvSpPr>
          <p:nvPr>
            <p:ph type="sldNum" sz="quarter" idx="5"/>
          </p:nvPr>
        </p:nvSpPr>
        <p:spPr/>
        <p:txBody>
          <a:bodyPr/>
          <a:lstStyle/>
          <a:p>
            <a:fld id="{A8C09B83-CD37-47EE-8157-711485B36C82}" type="slidenum">
              <a:rPr lang="en-US" smtClean="0"/>
              <a:t>1</a:t>
            </a:fld>
            <a:endParaRPr lang="en-US"/>
          </a:p>
        </p:txBody>
      </p:sp>
    </p:spTree>
    <p:extLst>
      <p:ext uri="{BB962C8B-B14F-4D97-AF65-F5344CB8AC3E}">
        <p14:creationId xmlns:p14="http://schemas.microsoft.com/office/powerpoint/2010/main" val="1726505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the database in third normal form to ensure minimal redundancy and strong data integrity. Here's our Entity-Relationship Diagram showing the logical structure. The primary and foreign keys are clearly marked to define relationships like which salesperson is assigned to which customer, and which order belongs to which customer. This design supports scalability and clean data querying.</a:t>
            </a:r>
          </a:p>
        </p:txBody>
      </p:sp>
      <p:sp>
        <p:nvSpPr>
          <p:cNvPr id="4" name="Slide Number Placeholder 3"/>
          <p:cNvSpPr>
            <a:spLocks noGrp="1"/>
          </p:cNvSpPr>
          <p:nvPr>
            <p:ph type="sldNum" sz="quarter" idx="5"/>
          </p:nvPr>
        </p:nvSpPr>
        <p:spPr/>
        <p:txBody>
          <a:bodyPr/>
          <a:lstStyle/>
          <a:p>
            <a:fld id="{A8C09B83-CD37-47EE-8157-711485B36C82}" type="slidenum">
              <a:rPr lang="en-US" smtClean="0"/>
              <a:t>2</a:t>
            </a:fld>
            <a:endParaRPr lang="en-US"/>
          </a:p>
        </p:txBody>
      </p:sp>
    </p:spTree>
    <p:extLst>
      <p:ext uri="{BB962C8B-B14F-4D97-AF65-F5344CB8AC3E}">
        <p14:creationId xmlns:p14="http://schemas.microsoft.com/office/powerpoint/2010/main" val="3128171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showcases our SQL work. We created the database schema using DDL statements, then inserted over 25 rows into each table using DML. We implemented a stored procedure to add a new salesperson securely, and a user-defined function to convert item prices from USD to Euro based on exchange rates. All SQL code has been tested in MS SQL Server and included in a .</a:t>
            </a:r>
            <a:r>
              <a:rPr lang="en-US" dirty="0" err="1"/>
              <a:t>sql</a:t>
            </a:r>
            <a:r>
              <a:rPr lang="en-US" dirty="0"/>
              <a:t> file submission.</a:t>
            </a:r>
          </a:p>
        </p:txBody>
      </p:sp>
      <p:sp>
        <p:nvSpPr>
          <p:cNvPr id="4" name="Slide Number Placeholder 3"/>
          <p:cNvSpPr>
            <a:spLocks noGrp="1"/>
          </p:cNvSpPr>
          <p:nvPr>
            <p:ph type="sldNum" sz="quarter" idx="5"/>
          </p:nvPr>
        </p:nvSpPr>
        <p:spPr/>
        <p:txBody>
          <a:bodyPr/>
          <a:lstStyle/>
          <a:p>
            <a:fld id="{A8C09B83-CD37-47EE-8157-711485B36C82}" type="slidenum">
              <a:rPr lang="en-US" smtClean="0"/>
              <a:t>3</a:t>
            </a:fld>
            <a:endParaRPr lang="en-US"/>
          </a:p>
        </p:txBody>
      </p:sp>
    </p:spTree>
    <p:extLst>
      <p:ext uri="{BB962C8B-B14F-4D97-AF65-F5344CB8AC3E}">
        <p14:creationId xmlns:p14="http://schemas.microsoft.com/office/powerpoint/2010/main" val="802144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automation, we used Python with </a:t>
            </a:r>
            <a:r>
              <a:rPr lang="en-US" dirty="0" err="1"/>
              <a:t>Jupyter</a:t>
            </a:r>
            <a:r>
              <a:rPr lang="en-US" dirty="0"/>
              <a:t> Notebook. Libraries like </a:t>
            </a:r>
            <a:r>
              <a:rPr lang="en-US" dirty="0" err="1"/>
              <a:t>pyodbc</a:t>
            </a:r>
            <a:r>
              <a:rPr lang="en-US" dirty="0"/>
              <a:t> and pandas allowed us to connect to SQL Server and insert data efficiently. This method ensures repeatable and testable workflows, which is especially helpful for larger datasets and future scaling. We've included the full </a:t>
            </a:r>
            <a:r>
              <a:rPr lang="en-US" dirty="0" err="1"/>
              <a:t>Jupyter</a:t>
            </a:r>
            <a:r>
              <a:rPr lang="en-US" dirty="0"/>
              <a:t> notebook as part of our submission.</a:t>
            </a:r>
          </a:p>
        </p:txBody>
      </p:sp>
      <p:sp>
        <p:nvSpPr>
          <p:cNvPr id="4" name="Slide Number Placeholder 3"/>
          <p:cNvSpPr>
            <a:spLocks noGrp="1"/>
          </p:cNvSpPr>
          <p:nvPr>
            <p:ph type="sldNum" sz="quarter" idx="5"/>
          </p:nvPr>
        </p:nvSpPr>
        <p:spPr/>
        <p:txBody>
          <a:bodyPr/>
          <a:lstStyle/>
          <a:p>
            <a:fld id="{A8C09B83-CD37-47EE-8157-711485B36C82}" type="slidenum">
              <a:rPr lang="en-US" smtClean="0"/>
              <a:t>4</a:t>
            </a:fld>
            <a:endParaRPr lang="en-US"/>
          </a:p>
        </p:txBody>
      </p:sp>
    </p:spTree>
    <p:extLst>
      <p:ext uri="{BB962C8B-B14F-4D97-AF65-F5344CB8AC3E}">
        <p14:creationId xmlns:p14="http://schemas.microsoft.com/office/powerpoint/2010/main" val="1143302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created SQL views to extract meaningful business insights. These views join multiple tables and use aggregate functions to determine high-value customers and sales performance. For example, we identify the most expensive item purchased by each customer and total sales per customer—crucial data for any business analysis.</a:t>
            </a:r>
          </a:p>
        </p:txBody>
      </p:sp>
      <p:sp>
        <p:nvSpPr>
          <p:cNvPr id="4" name="Slide Number Placeholder 3"/>
          <p:cNvSpPr>
            <a:spLocks noGrp="1"/>
          </p:cNvSpPr>
          <p:nvPr>
            <p:ph type="sldNum" sz="quarter" idx="5"/>
          </p:nvPr>
        </p:nvSpPr>
        <p:spPr/>
        <p:txBody>
          <a:bodyPr/>
          <a:lstStyle/>
          <a:p>
            <a:fld id="{A8C09B83-CD37-47EE-8157-711485B36C82}" type="slidenum">
              <a:rPr lang="en-US" smtClean="0"/>
              <a:t>5</a:t>
            </a:fld>
            <a:endParaRPr lang="en-US"/>
          </a:p>
        </p:txBody>
      </p:sp>
    </p:spTree>
    <p:extLst>
      <p:ext uri="{BB962C8B-B14F-4D97-AF65-F5344CB8AC3E}">
        <p14:creationId xmlns:p14="http://schemas.microsoft.com/office/powerpoint/2010/main" val="1052317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present the visual analytics. Using matplotlib and seaborn, we plotted total sales by customer and by state. These charts help businesses spot geographic trends and focus their sales efforts. This integration of SQL data with Python visualizations strengthens data-driven decision-making.</a:t>
            </a:r>
          </a:p>
        </p:txBody>
      </p:sp>
      <p:sp>
        <p:nvSpPr>
          <p:cNvPr id="4" name="Slide Number Placeholder 3"/>
          <p:cNvSpPr>
            <a:spLocks noGrp="1"/>
          </p:cNvSpPr>
          <p:nvPr>
            <p:ph type="sldNum" sz="quarter" idx="5"/>
          </p:nvPr>
        </p:nvSpPr>
        <p:spPr/>
        <p:txBody>
          <a:bodyPr/>
          <a:lstStyle/>
          <a:p>
            <a:fld id="{A8C09B83-CD37-47EE-8157-711485B36C82}" type="slidenum">
              <a:rPr lang="en-US" smtClean="0"/>
              <a:t>6</a:t>
            </a:fld>
            <a:endParaRPr lang="en-US"/>
          </a:p>
        </p:txBody>
      </p:sp>
    </p:spTree>
    <p:extLst>
      <p:ext uri="{BB962C8B-B14F-4D97-AF65-F5344CB8AC3E}">
        <p14:creationId xmlns:p14="http://schemas.microsoft.com/office/powerpoint/2010/main" val="31057276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7/17/2026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7/17/2026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7/17/2026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iki.livid.pp.ru/students/dbms/labs/docs/03_SQL_Query.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creativecommons.org/licenses/by/3.0/" TargetMode="External"/><Relationship Id="rId4" Type="http://schemas.openxmlformats.org/officeDocument/2006/relationships/hyperlink" Target="https://gmd.copernicus.org/articles/14/4401/2021/"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hyperlink" Target="https://creativecommons.org/licenses/by/3.0/" TargetMode="External"/><Relationship Id="rId4" Type="http://schemas.openxmlformats.org/officeDocument/2006/relationships/hyperlink" Target="https://peerj.com/articles/3509/"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6701-C7FB-DBE8-BE3A-3240FFF28611}"/>
              </a:ext>
            </a:extLst>
          </p:cNvPr>
          <p:cNvSpPr>
            <a:spLocks noGrp="1"/>
          </p:cNvSpPr>
          <p:nvPr>
            <p:ph type="ctrTitle"/>
          </p:nvPr>
        </p:nvSpPr>
        <p:spPr>
          <a:xfrm>
            <a:off x="1540717" y="1317561"/>
            <a:ext cx="8825658" cy="1329267"/>
          </a:xfrm>
        </p:spPr>
        <p:txBody>
          <a:bodyPr/>
          <a:lstStyle/>
          <a:p>
            <a:pPr algn="ctr"/>
            <a:r>
              <a:rPr lang="en-US" sz="3200" b="1" dirty="0"/>
              <a:t>Customer Orders Database – Final Project Overview</a:t>
            </a:r>
          </a:p>
        </p:txBody>
      </p:sp>
      <p:sp>
        <p:nvSpPr>
          <p:cNvPr id="5" name="Rectangle 2">
            <a:extLst>
              <a:ext uri="{FF2B5EF4-FFF2-40B4-BE49-F238E27FC236}">
                <a16:creationId xmlns:a16="http://schemas.microsoft.com/office/drawing/2014/main" id="{840F93A9-53D3-7507-8472-7DE482D6BDBD}"/>
              </a:ext>
            </a:extLst>
          </p:cNvPr>
          <p:cNvSpPr>
            <a:spLocks noGrp="1" noChangeArrowheads="1"/>
          </p:cNvSpPr>
          <p:nvPr>
            <p:ph type="subTitle" idx="1"/>
          </p:nvPr>
        </p:nvSpPr>
        <p:spPr bwMode="auto">
          <a:xfrm>
            <a:off x="1540717" y="2934062"/>
            <a:ext cx="9417050" cy="5600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2"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tabLst/>
            </a:pPr>
            <a:r>
              <a:rPr kumimoji="0" lang="en-US" altLang="en-US" sz="1800" b="0" i="0" u="none" strike="noStrike" cap="none" normalizeH="0" baseline="0" dirty="0">
                <a:ln>
                  <a:noFill/>
                </a:ln>
                <a:solidFill>
                  <a:srgbClr val="FFC000"/>
                </a:solidFill>
                <a:effectLst/>
                <a:latin typeface="Arial" panose="020B0604020202020204" pitchFamily="34" charset="0"/>
              </a:rPr>
              <a:t>Group Members: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Sameer Basha Mohammad </a:t>
            </a:r>
            <a:r>
              <a:rPr kumimoji="0" lang="en-US" altLang="en-US" sz="1800" b="0" i="0" u="none" strike="noStrike" cap="none" normalizeH="0" baseline="0" dirty="0" err="1">
                <a:ln>
                  <a:noFill/>
                </a:ln>
                <a:solidFill>
                  <a:schemeClr val="bg2"/>
                </a:solidFill>
                <a:effectLst/>
                <a:latin typeface="Arial" panose="020B0604020202020204" pitchFamily="34" charset="0"/>
              </a:rPr>
              <a:t>Hothur</a:t>
            </a: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Brendan Gillow</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Chandra Kiran </a:t>
            </a:r>
            <a:r>
              <a:rPr kumimoji="0" lang="en-US" altLang="en-US" sz="1800" b="0" i="0" u="none" strike="noStrike" cap="none" normalizeH="0" baseline="0" dirty="0" err="1">
                <a:ln>
                  <a:noFill/>
                </a:ln>
                <a:solidFill>
                  <a:schemeClr val="bg2"/>
                </a:solidFill>
                <a:effectLst/>
                <a:latin typeface="Arial" panose="020B0604020202020204" pitchFamily="34" charset="0"/>
              </a:rPr>
              <a:t>Challamalasetti</a:t>
            </a: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lang="en-US" altLang="en-US" cap="none" dirty="0">
              <a:solidFill>
                <a:schemeClr val="bg2"/>
              </a:solidFill>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lang="en-US" altLang="en-US" cap="none" dirty="0">
              <a:solidFill>
                <a:schemeClr val="bg2"/>
              </a:solidFill>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kumimoji="0" lang="en-US" altLang="en-US" sz="18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tabLst/>
            </a:pPr>
            <a:endParaRPr lang="en-US" altLang="en-US" cap="none" dirty="0">
              <a:solidFill>
                <a:schemeClr val="bg2"/>
              </a:solidFill>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rgbClr val="FFC000"/>
                </a:solidFill>
                <a:effectLst/>
                <a:latin typeface="Arial" panose="020B0604020202020204" pitchFamily="34" charset="0"/>
              </a:rPr>
              <a:t>Tools Used: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Microsoft SQL Server, </a:t>
            </a:r>
            <a:r>
              <a:rPr kumimoji="0" lang="en-US" altLang="en-US" sz="1800" b="0" i="0" u="none" strike="noStrike" cap="none" normalizeH="0" baseline="0" dirty="0" err="1">
                <a:ln>
                  <a:noFill/>
                </a:ln>
                <a:solidFill>
                  <a:schemeClr val="bg2"/>
                </a:solidFill>
                <a:effectLst/>
                <a:latin typeface="Arial" panose="020B0604020202020204" pitchFamily="34" charset="0"/>
              </a:rPr>
              <a:t>Jupyter</a:t>
            </a:r>
            <a:r>
              <a:rPr kumimoji="0" lang="en-US" altLang="en-US" sz="1800" b="0" i="0" u="none" strike="noStrike" cap="none" normalizeH="0" baseline="0" dirty="0">
                <a:ln>
                  <a:noFill/>
                </a:ln>
                <a:solidFill>
                  <a:schemeClr val="bg2"/>
                </a:solidFill>
                <a:effectLst/>
                <a:latin typeface="Arial" panose="020B0604020202020204" pitchFamily="34" charset="0"/>
              </a:rPr>
              <a:t> Notebook (Python), MS Word, Zoom</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rgbClr val="FFC000"/>
                </a:solidFill>
                <a:effectLst/>
                <a:latin typeface="Arial" panose="020B0604020202020204" pitchFamily="34" charset="0"/>
              </a:rPr>
              <a:t>Goals: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Normalize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Create efficient SQL/Python workflow</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Visualize sales trends</a:t>
            </a:r>
          </a:p>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8AE6A4E2-56FC-0367-D79D-C68D8511658C}"/>
              </a:ext>
            </a:extLst>
          </p:cNvPr>
          <p:cNvCxnSpPr>
            <a:cxnSpLocks/>
          </p:cNvCxnSpPr>
          <p:nvPr/>
        </p:nvCxnSpPr>
        <p:spPr>
          <a:xfrm>
            <a:off x="5486400" y="2757488"/>
            <a:ext cx="0" cy="3200400"/>
          </a:xfrm>
          <a:prstGeom prst="line">
            <a:avLst/>
          </a:prstGeom>
          <a:ln w="571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617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46A9-59F6-0C77-2343-491973D0E89F}"/>
              </a:ext>
            </a:extLst>
          </p:cNvPr>
          <p:cNvSpPr>
            <a:spLocks noGrp="1"/>
          </p:cNvSpPr>
          <p:nvPr>
            <p:ph type="title"/>
          </p:nvPr>
        </p:nvSpPr>
        <p:spPr/>
        <p:txBody>
          <a:bodyPr/>
          <a:lstStyle/>
          <a:p>
            <a:pPr algn="ctr"/>
            <a:r>
              <a:rPr lang="en-US" b="1" dirty="0"/>
              <a:t>Table Design &amp; Entity-Relationship Diagram</a:t>
            </a:r>
          </a:p>
        </p:txBody>
      </p:sp>
      <p:sp>
        <p:nvSpPr>
          <p:cNvPr id="4" name="Content Placeholder 3">
            <a:extLst>
              <a:ext uri="{FF2B5EF4-FFF2-40B4-BE49-F238E27FC236}">
                <a16:creationId xmlns:a16="http://schemas.microsoft.com/office/drawing/2014/main" id="{8EB3DA8A-92B7-3B22-FF61-F89CFE3C8F4F}"/>
              </a:ext>
            </a:extLst>
          </p:cNvPr>
          <p:cNvSpPr>
            <a:spLocks noGrp="1"/>
          </p:cNvSpPr>
          <p:nvPr>
            <p:ph sz="half" idx="1"/>
          </p:nvPr>
        </p:nvSpPr>
        <p:spPr/>
        <p:txBody>
          <a:bodyPr/>
          <a:lstStyle/>
          <a:p>
            <a:r>
              <a:rPr lang="en-US" dirty="0"/>
              <a:t>3NF normalization applied</a:t>
            </a:r>
          </a:p>
          <a:p>
            <a:r>
              <a:rPr lang="en-US" dirty="0"/>
              <a:t>5 Main Tables:</a:t>
            </a:r>
          </a:p>
          <a:p>
            <a:pPr>
              <a:buFont typeface="+mj-lt"/>
              <a:buAutoNum type="arabicPeriod"/>
            </a:pPr>
            <a:r>
              <a:rPr lang="en-US" dirty="0"/>
              <a:t>Sales Person</a:t>
            </a:r>
          </a:p>
          <a:p>
            <a:pPr>
              <a:buFont typeface="+mj-lt"/>
              <a:buAutoNum type="arabicPeriod"/>
            </a:pPr>
            <a:r>
              <a:rPr lang="en-US" dirty="0"/>
              <a:t>Customer</a:t>
            </a:r>
          </a:p>
          <a:p>
            <a:pPr>
              <a:buFont typeface="+mj-lt"/>
              <a:buAutoNum type="arabicPeriod"/>
            </a:pPr>
            <a:r>
              <a:rPr lang="en-US" dirty="0"/>
              <a:t>Order</a:t>
            </a:r>
          </a:p>
          <a:p>
            <a:pPr>
              <a:buFont typeface="+mj-lt"/>
              <a:buAutoNum type="arabicPeriod"/>
            </a:pPr>
            <a:r>
              <a:rPr lang="en-US" dirty="0"/>
              <a:t>Order </a:t>
            </a:r>
            <a:r>
              <a:rPr lang="en-US" dirty="0" err="1"/>
              <a:t>DetailI</a:t>
            </a:r>
            <a:endParaRPr lang="en-US" dirty="0"/>
          </a:p>
          <a:p>
            <a:pPr>
              <a:buFont typeface="+mj-lt"/>
              <a:buAutoNum type="arabicPeriod"/>
            </a:pPr>
            <a:r>
              <a:rPr lang="en-US" dirty="0"/>
              <a:t>Item</a:t>
            </a:r>
          </a:p>
        </p:txBody>
      </p:sp>
      <p:pic>
        <p:nvPicPr>
          <p:cNvPr id="7" name="Content Placeholder 6">
            <a:extLst>
              <a:ext uri="{FF2B5EF4-FFF2-40B4-BE49-F238E27FC236}">
                <a16:creationId xmlns:a16="http://schemas.microsoft.com/office/drawing/2014/main" id="{CFDAC0B1-927E-7532-9F39-878A5C49A159}"/>
              </a:ext>
            </a:extLst>
          </p:cNvPr>
          <p:cNvPicPr>
            <a:picLocks noGrp="1" noChangeAspect="1"/>
          </p:cNvPicPr>
          <p:nvPr>
            <p:ph sz="half" idx="2"/>
          </p:nvPr>
        </p:nvPicPr>
        <p:blipFill>
          <a:blip r:embed="rId3"/>
          <a:stretch>
            <a:fillRect/>
          </a:stretch>
        </p:blipFill>
        <p:spPr>
          <a:xfrm>
            <a:off x="5109288" y="2603500"/>
            <a:ext cx="5927758" cy="3695700"/>
          </a:xfrm>
        </p:spPr>
      </p:pic>
    </p:spTree>
    <p:extLst>
      <p:ext uri="{BB962C8B-B14F-4D97-AF65-F5344CB8AC3E}">
        <p14:creationId xmlns:p14="http://schemas.microsoft.com/office/powerpoint/2010/main" val="3809053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0F126-965A-5EB3-2C96-C35233CF2984}"/>
              </a:ext>
            </a:extLst>
          </p:cNvPr>
          <p:cNvSpPr>
            <a:spLocks noGrp="1"/>
          </p:cNvSpPr>
          <p:nvPr>
            <p:ph type="title"/>
          </p:nvPr>
        </p:nvSpPr>
        <p:spPr/>
        <p:txBody>
          <a:bodyPr/>
          <a:lstStyle/>
          <a:p>
            <a:r>
              <a:rPr lang="en-US" dirty="0"/>
              <a:t>SQL Statements – Structure &amp; Data Insertion</a:t>
            </a:r>
          </a:p>
        </p:txBody>
      </p:sp>
      <p:sp>
        <p:nvSpPr>
          <p:cNvPr id="3" name="Content Placeholder 2">
            <a:extLst>
              <a:ext uri="{FF2B5EF4-FFF2-40B4-BE49-F238E27FC236}">
                <a16:creationId xmlns:a16="http://schemas.microsoft.com/office/drawing/2014/main" id="{F13090AC-7EBF-64DE-11E7-84BBEB9DDED2}"/>
              </a:ext>
            </a:extLst>
          </p:cNvPr>
          <p:cNvSpPr>
            <a:spLocks noGrp="1"/>
          </p:cNvSpPr>
          <p:nvPr>
            <p:ph idx="1"/>
          </p:nvPr>
        </p:nvSpPr>
        <p:spPr>
          <a:xfrm>
            <a:off x="1154954" y="2603500"/>
            <a:ext cx="5420017" cy="3416300"/>
          </a:xfrm>
        </p:spPr>
        <p:txBody>
          <a:bodyPr/>
          <a:lstStyle/>
          <a:p>
            <a:pPr>
              <a:lnSpc>
                <a:spcPct val="200000"/>
              </a:lnSpc>
            </a:pPr>
            <a:r>
              <a:rPr lang="en-US" dirty="0"/>
              <a:t>All tables created using SQL DDL</a:t>
            </a:r>
          </a:p>
          <a:p>
            <a:pPr>
              <a:lnSpc>
                <a:spcPct val="200000"/>
              </a:lnSpc>
            </a:pPr>
            <a:r>
              <a:rPr lang="en-US" dirty="0"/>
              <a:t>25+ records inserted into each table using DML</a:t>
            </a:r>
          </a:p>
          <a:p>
            <a:pPr>
              <a:lnSpc>
                <a:spcPct val="200000"/>
              </a:lnSpc>
            </a:pPr>
            <a:r>
              <a:rPr lang="en-US" dirty="0"/>
              <a:t>Stored procedure: Add Sales Person</a:t>
            </a:r>
          </a:p>
          <a:p>
            <a:pPr>
              <a:lnSpc>
                <a:spcPct val="200000"/>
              </a:lnSpc>
            </a:pPr>
            <a:r>
              <a:rPr lang="en-US" dirty="0"/>
              <a:t>Function: Convert USD To EUR</a:t>
            </a:r>
          </a:p>
        </p:txBody>
      </p:sp>
      <p:pic>
        <p:nvPicPr>
          <p:cNvPr id="6" name="Picture 5">
            <a:extLst>
              <a:ext uri="{FF2B5EF4-FFF2-40B4-BE49-F238E27FC236}">
                <a16:creationId xmlns:a16="http://schemas.microsoft.com/office/drawing/2014/main" id="{86F54DB8-DBF4-F71D-6B6D-AE00FC22E3C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84974" y="2429328"/>
            <a:ext cx="4804623" cy="3993843"/>
          </a:xfrm>
          <a:prstGeom prst="rect">
            <a:avLst/>
          </a:prstGeom>
        </p:spPr>
      </p:pic>
      <p:sp>
        <p:nvSpPr>
          <p:cNvPr id="7" name="TextBox 6">
            <a:extLst>
              <a:ext uri="{FF2B5EF4-FFF2-40B4-BE49-F238E27FC236}">
                <a16:creationId xmlns:a16="http://schemas.microsoft.com/office/drawing/2014/main" id="{C0977687-6EF9-F4DF-BB30-9A857B1E531D}"/>
              </a:ext>
            </a:extLst>
          </p:cNvPr>
          <p:cNvSpPr txBox="1"/>
          <p:nvPr/>
        </p:nvSpPr>
        <p:spPr>
          <a:xfrm>
            <a:off x="7286171" y="6508516"/>
            <a:ext cx="4203426" cy="230832"/>
          </a:xfrm>
          <a:prstGeom prst="rect">
            <a:avLst/>
          </a:prstGeom>
          <a:noFill/>
        </p:spPr>
        <p:txBody>
          <a:bodyPr wrap="square" rtlCol="0">
            <a:spAutoFit/>
          </a:bodyPr>
          <a:lstStyle/>
          <a:p>
            <a:r>
              <a:rPr lang="en-US" sz="900">
                <a:hlinkClick r:id="rId4" tooltip="https://wiki.livid.pp.ru/students/dbms/labs/docs/03_SQL_Query.html"/>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3424600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E7CA-DD49-B7CD-BC47-569E87DB2F8B}"/>
              </a:ext>
            </a:extLst>
          </p:cNvPr>
          <p:cNvSpPr>
            <a:spLocks noGrp="1"/>
          </p:cNvSpPr>
          <p:nvPr>
            <p:ph type="title"/>
          </p:nvPr>
        </p:nvSpPr>
        <p:spPr/>
        <p:txBody>
          <a:bodyPr/>
          <a:lstStyle/>
          <a:p>
            <a:r>
              <a:rPr lang="en-US" dirty="0"/>
              <a:t>Python Integration for Data Insertion</a:t>
            </a:r>
          </a:p>
        </p:txBody>
      </p:sp>
      <p:sp>
        <p:nvSpPr>
          <p:cNvPr id="3" name="Content Placeholder 2">
            <a:extLst>
              <a:ext uri="{FF2B5EF4-FFF2-40B4-BE49-F238E27FC236}">
                <a16:creationId xmlns:a16="http://schemas.microsoft.com/office/drawing/2014/main" id="{1664ED1A-15BA-D244-49B1-24BAB55AA521}"/>
              </a:ext>
            </a:extLst>
          </p:cNvPr>
          <p:cNvSpPr>
            <a:spLocks noGrp="1"/>
          </p:cNvSpPr>
          <p:nvPr>
            <p:ph sz="half" idx="1"/>
          </p:nvPr>
        </p:nvSpPr>
        <p:spPr/>
        <p:txBody>
          <a:bodyPr/>
          <a:lstStyle/>
          <a:p>
            <a:pPr>
              <a:lnSpc>
                <a:spcPct val="200000"/>
              </a:lnSpc>
            </a:pPr>
            <a:r>
              <a:rPr lang="en-US" dirty="0"/>
              <a:t>Used </a:t>
            </a:r>
            <a:r>
              <a:rPr lang="en-US" dirty="0" err="1"/>
              <a:t>pyodbc</a:t>
            </a:r>
            <a:r>
              <a:rPr lang="en-US" dirty="0"/>
              <a:t> and pandas</a:t>
            </a:r>
          </a:p>
          <a:p>
            <a:pPr>
              <a:lnSpc>
                <a:spcPct val="200000"/>
              </a:lnSpc>
            </a:pPr>
            <a:r>
              <a:rPr lang="en-US" dirty="0"/>
              <a:t>Automated bulk inserts</a:t>
            </a:r>
          </a:p>
          <a:p>
            <a:pPr>
              <a:lnSpc>
                <a:spcPct val="200000"/>
              </a:lnSpc>
            </a:pPr>
            <a:r>
              <a:rPr lang="en-US" dirty="0"/>
              <a:t>Data cleaning and transformation handled in Python</a:t>
            </a:r>
          </a:p>
          <a:p>
            <a:pPr>
              <a:lnSpc>
                <a:spcPct val="200000"/>
              </a:lnSpc>
            </a:pPr>
            <a:r>
              <a:rPr lang="en-US" dirty="0"/>
              <a:t>Code runs in </a:t>
            </a:r>
            <a:r>
              <a:rPr lang="en-US" dirty="0" err="1"/>
              <a:t>Jupyter</a:t>
            </a:r>
            <a:r>
              <a:rPr lang="en-US" dirty="0"/>
              <a:t> Notebook</a:t>
            </a:r>
          </a:p>
        </p:txBody>
      </p:sp>
      <p:pic>
        <p:nvPicPr>
          <p:cNvPr id="6" name="Content Placeholder 5">
            <a:extLst>
              <a:ext uri="{FF2B5EF4-FFF2-40B4-BE49-F238E27FC236}">
                <a16:creationId xmlns:a16="http://schemas.microsoft.com/office/drawing/2014/main" id="{F337AA01-BC2E-4F83-0E37-AFA6C213F902}"/>
              </a:ext>
            </a:extLst>
          </p:cNvPr>
          <p:cNvPicPr>
            <a:picLocks noGrp="1" noChangeAspect="1"/>
          </p:cNvPicPr>
          <p:nvPr>
            <p:ph sz="half" idx="2"/>
          </p:nvPr>
        </p:nvPicPr>
        <p:blipFill>
          <a:blip r:embed="rId3">
            <a:extLst>
              <a:ext uri="{837473B0-CC2E-450A-ABE3-18F120FF3D39}">
                <a1611:picAttrSrcUrl xmlns:a1611="http://schemas.microsoft.com/office/drawing/2016/11/main" r:id="rId4"/>
              </a:ext>
            </a:extLst>
          </a:blip>
          <a:stretch>
            <a:fillRect/>
          </a:stretch>
        </p:blipFill>
        <p:spPr>
          <a:xfrm>
            <a:off x="5486083" y="2603499"/>
            <a:ext cx="6294605" cy="3416301"/>
          </a:xfrm>
        </p:spPr>
      </p:pic>
      <p:sp>
        <p:nvSpPr>
          <p:cNvPr id="7" name="TextBox 6">
            <a:extLst>
              <a:ext uri="{FF2B5EF4-FFF2-40B4-BE49-F238E27FC236}">
                <a16:creationId xmlns:a16="http://schemas.microsoft.com/office/drawing/2014/main" id="{CD87BB21-50CB-1A22-EADF-5E935E60E3C7}"/>
              </a:ext>
            </a:extLst>
          </p:cNvPr>
          <p:cNvSpPr txBox="1"/>
          <p:nvPr/>
        </p:nvSpPr>
        <p:spPr>
          <a:xfrm>
            <a:off x="5643571" y="5519683"/>
            <a:ext cx="5457993" cy="239444"/>
          </a:xfrm>
          <a:prstGeom prst="rect">
            <a:avLst/>
          </a:prstGeom>
          <a:noFill/>
        </p:spPr>
        <p:txBody>
          <a:bodyPr wrap="square" rtlCol="0">
            <a:spAutoFit/>
          </a:bodyPr>
          <a:lstStyle/>
          <a:p>
            <a:r>
              <a:rPr lang="en-US" sz="900">
                <a:hlinkClick r:id="rId4" tooltip="https://gmd.copernicus.org/articles/14/4401/2021/"/>
              </a:rPr>
              <a:t>This Photo</a:t>
            </a:r>
            <a:r>
              <a:rPr lang="en-US" sz="900"/>
              <a:t> by Unknown Author is licensed under </a:t>
            </a:r>
            <a:r>
              <a:rPr lang="en-US" sz="900">
                <a:hlinkClick r:id="rId5" tooltip="https://creativecommons.org/licenses/by/3.0/"/>
              </a:rPr>
              <a:t>CC BY</a:t>
            </a:r>
            <a:endParaRPr lang="en-US" sz="900"/>
          </a:p>
        </p:txBody>
      </p:sp>
    </p:spTree>
    <p:extLst>
      <p:ext uri="{BB962C8B-B14F-4D97-AF65-F5344CB8AC3E}">
        <p14:creationId xmlns:p14="http://schemas.microsoft.com/office/powerpoint/2010/main" val="2158847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65FE-3F0E-FB12-4EB1-00E5AB6BEDF7}"/>
              </a:ext>
            </a:extLst>
          </p:cNvPr>
          <p:cNvSpPr>
            <a:spLocks noGrp="1"/>
          </p:cNvSpPr>
          <p:nvPr>
            <p:ph type="title"/>
          </p:nvPr>
        </p:nvSpPr>
        <p:spPr/>
        <p:txBody>
          <a:bodyPr/>
          <a:lstStyle/>
          <a:p>
            <a:r>
              <a:rPr lang="en-US" dirty="0"/>
              <a:t>Database Views for Analysis</a:t>
            </a:r>
          </a:p>
        </p:txBody>
      </p:sp>
      <p:sp>
        <p:nvSpPr>
          <p:cNvPr id="3" name="Content Placeholder 2">
            <a:extLst>
              <a:ext uri="{FF2B5EF4-FFF2-40B4-BE49-F238E27FC236}">
                <a16:creationId xmlns:a16="http://schemas.microsoft.com/office/drawing/2014/main" id="{07B78892-F76E-C9ED-775D-94EFE0F2B66A}"/>
              </a:ext>
            </a:extLst>
          </p:cNvPr>
          <p:cNvSpPr>
            <a:spLocks noGrp="1"/>
          </p:cNvSpPr>
          <p:nvPr>
            <p:ph sz="half" idx="1"/>
          </p:nvPr>
        </p:nvSpPr>
        <p:spPr/>
        <p:txBody>
          <a:bodyPr/>
          <a:lstStyle/>
          <a:p>
            <a:r>
              <a:rPr lang="en-US" dirty="0"/>
              <a:t>Views created:</a:t>
            </a:r>
          </a:p>
          <a:p>
            <a:pPr>
              <a:buFont typeface="Wingdings" panose="05000000000000000000" pitchFamily="2" charset="2"/>
              <a:buChar char="v"/>
            </a:pPr>
            <a:r>
              <a:rPr lang="en-US" dirty="0"/>
              <a:t>Customers and Sales person</a:t>
            </a:r>
          </a:p>
          <a:p>
            <a:pPr>
              <a:buFont typeface="Wingdings" panose="05000000000000000000" pitchFamily="2" charset="2"/>
              <a:buChar char="v"/>
            </a:pPr>
            <a:r>
              <a:rPr lang="en-US" dirty="0"/>
              <a:t>Most expensive item per customer</a:t>
            </a:r>
          </a:p>
          <a:p>
            <a:pPr>
              <a:buFont typeface="Wingdings" panose="05000000000000000000" pitchFamily="2" charset="2"/>
              <a:buChar char="v"/>
            </a:pPr>
            <a:r>
              <a:rPr lang="en-US" dirty="0"/>
              <a:t>Most expensive item sold per salesperson</a:t>
            </a:r>
          </a:p>
          <a:p>
            <a:pPr>
              <a:buFont typeface="Wingdings" panose="05000000000000000000" pitchFamily="2" charset="2"/>
              <a:buChar char="v"/>
            </a:pPr>
            <a:r>
              <a:rPr lang="en-US" dirty="0"/>
              <a:t>Total item purchase by customer</a:t>
            </a:r>
          </a:p>
          <a:p>
            <a:r>
              <a:rPr lang="en-US" dirty="0"/>
              <a:t>Enables reporting and trend analysis</a:t>
            </a:r>
          </a:p>
        </p:txBody>
      </p:sp>
      <p:pic>
        <p:nvPicPr>
          <p:cNvPr id="6" name="Content Placeholder 5">
            <a:extLst>
              <a:ext uri="{FF2B5EF4-FFF2-40B4-BE49-F238E27FC236}">
                <a16:creationId xmlns:a16="http://schemas.microsoft.com/office/drawing/2014/main" id="{F97BB429-E068-1910-9D3B-4398A5729C40}"/>
              </a:ext>
            </a:extLst>
          </p:cNvPr>
          <p:cNvPicPr>
            <a:picLocks noGrp="1" noChangeAspect="1"/>
          </p:cNvPicPr>
          <p:nvPr>
            <p:ph sz="half" idx="2"/>
          </p:nvPr>
        </p:nvPicPr>
        <p:blipFill>
          <a:blip r:embed="rId3">
            <a:extLst>
              <a:ext uri="{837473B0-CC2E-450A-ABE3-18F120FF3D39}">
                <a1611:picAttrSrcUrl xmlns:a1611="http://schemas.microsoft.com/office/drawing/2016/11/main" r:id="rId4"/>
              </a:ext>
            </a:extLst>
          </a:blip>
          <a:stretch>
            <a:fillRect/>
          </a:stretch>
        </p:blipFill>
        <p:spPr>
          <a:xfrm>
            <a:off x="5980113" y="2603500"/>
            <a:ext cx="4825157" cy="3702372"/>
          </a:xfrm>
        </p:spPr>
      </p:pic>
      <p:sp>
        <p:nvSpPr>
          <p:cNvPr id="7" name="TextBox 6">
            <a:extLst>
              <a:ext uri="{FF2B5EF4-FFF2-40B4-BE49-F238E27FC236}">
                <a16:creationId xmlns:a16="http://schemas.microsoft.com/office/drawing/2014/main" id="{038D2E31-F12D-F72A-EDE8-A0F18549F695}"/>
              </a:ext>
            </a:extLst>
          </p:cNvPr>
          <p:cNvSpPr txBox="1"/>
          <p:nvPr/>
        </p:nvSpPr>
        <p:spPr>
          <a:xfrm>
            <a:off x="5980113" y="6483672"/>
            <a:ext cx="4825157" cy="230832"/>
          </a:xfrm>
          <a:prstGeom prst="rect">
            <a:avLst/>
          </a:prstGeom>
          <a:noFill/>
        </p:spPr>
        <p:txBody>
          <a:bodyPr wrap="square" rtlCol="0">
            <a:spAutoFit/>
          </a:bodyPr>
          <a:lstStyle/>
          <a:p>
            <a:r>
              <a:rPr lang="en-US" sz="900">
                <a:hlinkClick r:id="rId4" tooltip="https://peerj.com/articles/3509/"/>
              </a:rPr>
              <a:t>This Photo</a:t>
            </a:r>
            <a:r>
              <a:rPr lang="en-US" sz="900"/>
              <a:t> by Unknown Author is licensed under </a:t>
            </a:r>
            <a:r>
              <a:rPr lang="en-US" sz="900">
                <a:hlinkClick r:id="rId5" tooltip="https://creativecommons.org/licenses/by/3.0/"/>
              </a:rPr>
              <a:t>CC BY</a:t>
            </a:r>
            <a:endParaRPr lang="en-US" sz="900"/>
          </a:p>
        </p:txBody>
      </p:sp>
    </p:spTree>
    <p:extLst>
      <p:ext uri="{BB962C8B-B14F-4D97-AF65-F5344CB8AC3E}">
        <p14:creationId xmlns:p14="http://schemas.microsoft.com/office/powerpoint/2010/main" val="558499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B8015-26DD-2272-F2C4-59058C61AA67}"/>
              </a:ext>
            </a:extLst>
          </p:cNvPr>
          <p:cNvSpPr>
            <a:spLocks noGrp="1"/>
          </p:cNvSpPr>
          <p:nvPr>
            <p:ph type="title"/>
          </p:nvPr>
        </p:nvSpPr>
        <p:spPr/>
        <p:txBody>
          <a:bodyPr/>
          <a:lstStyle/>
          <a:p>
            <a:r>
              <a:rPr lang="en-US" dirty="0"/>
              <a:t>Sales Visualizations in Python</a:t>
            </a:r>
          </a:p>
        </p:txBody>
      </p:sp>
      <p:sp>
        <p:nvSpPr>
          <p:cNvPr id="3" name="Content Placeholder 2">
            <a:extLst>
              <a:ext uri="{FF2B5EF4-FFF2-40B4-BE49-F238E27FC236}">
                <a16:creationId xmlns:a16="http://schemas.microsoft.com/office/drawing/2014/main" id="{226F13CD-6DD5-6118-EB81-C6A85917E116}"/>
              </a:ext>
            </a:extLst>
          </p:cNvPr>
          <p:cNvSpPr>
            <a:spLocks noGrp="1"/>
          </p:cNvSpPr>
          <p:nvPr>
            <p:ph idx="1"/>
          </p:nvPr>
        </p:nvSpPr>
        <p:spPr>
          <a:xfrm>
            <a:off x="2774851" y="2618014"/>
            <a:ext cx="5521617" cy="3416300"/>
          </a:xfrm>
        </p:spPr>
        <p:txBody>
          <a:bodyPr>
            <a:normAutofit/>
          </a:bodyPr>
          <a:lstStyle/>
          <a:p>
            <a:r>
              <a:rPr lang="en-US" sz="2000" dirty="0"/>
              <a:t>Used matplotlib and seaborn</a:t>
            </a:r>
          </a:p>
          <a:p>
            <a:r>
              <a:rPr lang="en-US" sz="2000" dirty="0"/>
              <a:t>Charts created:</a:t>
            </a:r>
          </a:p>
          <a:p>
            <a:pPr lvl="1">
              <a:buFont typeface="Wingdings" panose="05000000000000000000" pitchFamily="2" charset="2"/>
              <a:buChar char="§"/>
            </a:pPr>
            <a:r>
              <a:rPr lang="en-US" sz="2000" dirty="0"/>
              <a:t>Sales by Customer</a:t>
            </a:r>
          </a:p>
          <a:p>
            <a:pPr lvl="1">
              <a:buFont typeface="Wingdings" panose="05000000000000000000" pitchFamily="2" charset="2"/>
              <a:buChar char="§"/>
            </a:pPr>
            <a:r>
              <a:rPr lang="en-US" sz="2000" dirty="0"/>
              <a:t>Sales by State</a:t>
            </a:r>
          </a:p>
          <a:p>
            <a:endParaRPr lang="en-US" sz="2000" dirty="0"/>
          </a:p>
          <a:p>
            <a:r>
              <a:rPr lang="en-US" sz="2000" dirty="0"/>
              <a:t>Diagrams enhance business understanding</a:t>
            </a:r>
          </a:p>
        </p:txBody>
      </p:sp>
    </p:spTree>
    <p:extLst>
      <p:ext uri="{BB962C8B-B14F-4D97-AF65-F5344CB8AC3E}">
        <p14:creationId xmlns:p14="http://schemas.microsoft.com/office/powerpoint/2010/main" val="255200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07457-F8E7-CC02-90A5-DB95562CAD2B}"/>
              </a:ext>
            </a:extLst>
          </p:cNvPr>
          <p:cNvSpPr>
            <a:spLocks noGrp="1"/>
          </p:cNvSpPr>
          <p:nvPr>
            <p:ph type="title"/>
          </p:nvPr>
        </p:nvSpPr>
        <p:spPr/>
        <p:txBody>
          <a:bodyPr/>
          <a:lstStyle/>
          <a:p>
            <a:r>
              <a:rPr lang="en-US" dirty="0"/>
              <a:t>Conclusion &amp; Team Contribution</a:t>
            </a:r>
          </a:p>
        </p:txBody>
      </p:sp>
      <p:sp>
        <p:nvSpPr>
          <p:cNvPr id="4" name="Rectangle 1">
            <a:extLst>
              <a:ext uri="{FF2B5EF4-FFF2-40B4-BE49-F238E27FC236}">
                <a16:creationId xmlns:a16="http://schemas.microsoft.com/office/drawing/2014/main" id="{2EC85866-C969-EDC4-6A18-1EC5856A5759}"/>
              </a:ext>
            </a:extLst>
          </p:cNvPr>
          <p:cNvSpPr>
            <a:spLocks noGrp="1" noChangeArrowheads="1"/>
          </p:cNvSpPr>
          <p:nvPr>
            <p:ph idx="1"/>
          </p:nvPr>
        </p:nvSpPr>
        <p:spPr bwMode="auto">
          <a:xfrm>
            <a:off x="1154954" y="2236620"/>
            <a:ext cx="10500016" cy="5046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Summary:</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3NF design, SQL, Python integration</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views and procedures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 project artifacts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0"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Team Roles: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Sameer: SQL + ERD</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Brendan: Python + Charts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Chandra: Testing + Stored Procedures</a:t>
            </a:r>
          </a:p>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7A33D11-A107-0040-C390-E474669E99BB}"/>
              </a:ext>
            </a:extLst>
          </p:cNvPr>
          <p:cNvPicPr>
            <a:picLocks noChangeAspect="1"/>
          </p:cNvPicPr>
          <p:nvPr/>
        </p:nvPicPr>
        <p:blipFill>
          <a:blip r:embed="rId2"/>
          <a:stretch>
            <a:fillRect/>
          </a:stretch>
        </p:blipFill>
        <p:spPr>
          <a:xfrm>
            <a:off x="5506631" y="2483304"/>
            <a:ext cx="2962275" cy="1543050"/>
          </a:xfrm>
          <a:prstGeom prst="rect">
            <a:avLst/>
          </a:prstGeom>
        </p:spPr>
      </p:pic>
      <p:pic>
        <p:nvPicPr>
          <p:cNvPr id="6" name="Picture 5">
            <a:extLst>
              <a:ext uri="{FF2B5EF4-FFF2-40B4-BE49-F238E27FC236}">
                <a16:creationId xmlns:a16="http://schemas.microsoft.com/office/drawing/2014/main" id="{222F42A7-7E56-5067-AE9D-59542C7E95EA}"/>
              </a:ext>
            </a:extLst>
          </p:cNvPr>
          <p:cNvPicPr>
            <a:picLocks noChangeAspect="1"/>
          </p:cNvPicPr>
          <p:nvPr/>
        </p:nvPicPr>
        <p:blipFill>
          <a:blip r:embed="rId3"/>
          <a:stretch>
            <a:fillRect/>
          </a:stretch>
        </p:blipFill>
        <p:spPr>
          <a:xfrm>
            <a:off x="7160013" y="4104822"/>
            <a:ext cx="2828925" cy="1619250"/>
          </a:xfrm>
          <a:prstGeom prst="rect">
            <a:avLst/>
          </a:prstGeom>
        </p:spPr>
      </p:pic>
      <p:pic>
        <p:nvPicPr>
          <p:cNvPr id="7" name="Picture 6">
            <a:extLst>
              <a:ext uri="{FF2B5EF4-FFF2-40B4-BE49-F238E27FC236}">
                <a16:creationId xmlns:a16="http://schemas.microsoft.com/office/drawing/2014/main" id="{22D0FEB5-C1DE-8EBB-684F-A202A7E1896B}"/>
              </a:ext>
            </a:extLst>
          </p:cNvPr>
          <p:cNvPicPr>
            <a:picLocks noChangeAspect="1"/>
          </p:cNvPicPr>
          <p:nvPr/>
        </p:nvPicPr>
        <p:blipFill>
          <a:blip r:embed="rId4"/>
          <a:stretch>
            <a:fillRect/>
          </a:stretch>
        </p:blipFill>
        <p:spPr>
          <a:xfrm>
            <a:off x="7820025" y="5884332"/>
            <a:ext cx="4371975" cy="1047750"/>
          </a:xfrm>
          <a:prstGeom prst="rect">
            <a:avLst/>
          </a:prstGeom>
        </p:spPr>
      </p:pic>
    </p:spTree>
    <p:extLst>
      <p:ext uri="{BB962C8B-B14F-4D97-AF65-F5344CB8AC3E}">
        <p14:creationId xmlns:p14="http://schemas.microsoft.com/office/powerpoint/2010/main" val="33101476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{353CFE8D-9D3C-4160-B052-09B57F934E45}tf02900722</Template>
  <TotalTime>33</TotalTime>
  <Words>630</Words>
  <Application>Microsoft Office PowerPoint</Application>
  <PresentationFormat>Widescreen</PresentationFormat>
  <Paragraphs>73</Paragraphs>
  <Slides>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Century Gothic</vt:lpstr>
      <vt:lpstr>Times New Roman</vt:lpstr>
      <vt:lpstr>Wingdings</vt:lpstr>
      <vt:lpstr>Wingdings 3</vt:lpstr>
      <vt:lpstr>Ion Boardroom</vt:lpstr>
      <vt:lpstr>Customer Orders Database – Final Project Overview</vt:lpstr>
      <vt:lpstr>Table Design &amp; Entity-Relationship Diagram</vt:lpstr>
      <vt:lpstr>SQL Statements – Structure &amp; Data Insertion</vt:lpstr>
      <vt:lpstr>Python Integration for Data Insertion</vt:lpstr>
      <vt:lpstr>Database Views for Analysis</vt:lpstr>
      <vt:lpstr>Sales Visualizations in Python</vt:lpstr>
      <vt:lpstr>Conclusion &amp; Team Contribution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Ezekiel Nyaga</dc:creator>
  <cp:lastModifiedBy>Chandra Kiran Challamalasetti</cp:lastModifiedBy>
  <cp:revision>1</cp:revision>
  <dcterms:created xsi:type="dcterms:W3CDTF">2025-05-10T19:34:53Z</dcterms:created>
  <dcterms:modified xsi:type="dcterms:W3CDTF">2026-07-18T03:05:15Z</dcterms:modified>
</cp:coreProperties>
</file>